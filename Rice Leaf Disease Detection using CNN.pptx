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  <p:sldId id="312" r:id="rId13"/>
    <p:sldId id="316" r:id="rId14"/>
    <p:sldId id="314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>
        <p:scale>
          <a:sx n="42" d="100"/>
          <a:sy n="42" d="100"/>
        </p:scale>
        <p:origin x="293" y="840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9/18/2025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/>
              <a:t>Rice Leaf Disease Detection using CNN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8516354"/>
              </p:ext>
            </p:extLst>
          </p:nvPr>
        </p:nvGraphicFramePr>
        <p:xfrm>
          <a:off x="6999534" y="467139"/>
          <a:ext cx="4190999" cy="6124493"/>
        </p:xfrm>
        <a:graphic>
          <a:graphicData uri="http://schemas.openxmlformats.org/drawingml/2006/table">
            <a:tbl>
              <a:tblPr firstRow="1" bandRow="1"/>
              <a:tblGrid>
                <a:gridCol w="4190999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1003853">
                <a:tc>
                  <a:txBody>
                    <a:bodyPr/>
                    <a:lstStyle/>
                    <a:p>
                      <a:r>
                        <a:rPr lang="en-US" b="1" dirty="0"/>
                        <a:t>Introduction &amp; Problem Statement</a:t>
                      </a:r>
                      <a:endParaRPr lang="en-US" dirty="0"/>
                    </a:p>
                    <a:p>
                      <a:pPr lvl="1"/>
                      <a:r>
                        <a:rPr lang="en-US" dirty="0"/>
                        <a:t>Importance of rice, common diseases, and challenges in manual detection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309188">
                <a:tc>
                  <a:txBody>
                    <a:bodyPr/>
                    <a:lstStyle/>
                    <a:p>
                      <a:r>
                        <a:rPr lang="en-US" b="1" dirty="0"/>
                        <a:t>Objectives</a:t>
                      </a:r>
                      <a:endParaRPr lang="en-US" dirty="0"/>
                    </a:p>
                    <a:p>
                      <a:pPr lvl="1"/>
                      <a:r>
                        <a:rPr lang="en-US" dirty="0"/>
                        <a:t>Goals of building an AI-powered detection system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734583">
                <a:tc>
                  <a:txBody>
                    <a:bodyPr/>
                    <a:lstStyle/>
                    <a:p>
                      <a:r>
                        <a:rPr lang="en-US" b="1" dirty="0"/>
                        <a:t>Dataset &amp; Methodology</a:t>
                      </a:r>
                      <a:endParaRPr lang="en-US" dirty="0"/>
                    </a:p>
                    <a:p>
                      <a:pPr lvl="1"/>
                      <a:r>
                        <a:rPr lang="en-US" dirty="0"/>
                        <a:t>Data preparation, preprocessing, and model workflow</a:t>
                      </a:r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1048660">
                <a:tc>
                  <a:txBody>
                    <a:bodyPr/>
                    <a:lstStyle/>
                    <a:p>
                      <a:r>
                        <a:rPr lang="en-US" b="1" dirty="0"/>
                        <a:t>Results &amp; Impact</a:t>
                      </a:r>
                      <a:endParaRPr lang="en-US" dirty="0"/>
                    </a:p>
                    <a:p>
                      <a:pPr lvl="1"/>
                      <a:r>
                        <a:rPr lang="en-US" dirty="0"/>
                        <a:t>Model accuracy, performance, and benefits for farmers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1048660">
                <a:tc>
                  <a:txBody>
                    <a:bodyPr/>
                    <a:lstStyle/>
                    <a:p>
                      <a:r>
                        <a:rPr lang="en-US" b="1" dirty="0"/>
                        <a:t>Conclusion &amp; Future Scope</a:t>
                      </a:r>
                      <a:endParaRPr lang="en-US" dirty="0"/>
                    </a:p>
                    <a:p>
                      <a:pPr lvl="1"/>
                      <a:r>
                        <a:rPr lang="en-US" dirty="0"/>
                        <a:t>Key outcomes and how this project can be expanded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5641848" cy="5029200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pic>
        <p:nvPicPr>
          <p:cNvPr id="8" name="Picture Placeholder 21" descr="Person in black skirt and white shirt holding some dandelions">
            <a:extLst>
              <a:ext uri="{FF2B5EF4-FFF2-40B4-BE49-F238E27FC236}">
                <a16:creationId xmlns:a16="http://schemas.microsoft.com/office/drawing/2014/main" id="{FFD2BD9F-962D-9BA5-14BE-C9CD52FEF9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" b="18"/>
          <a:stretch/>
        </p:blipFill>
        <p:spPr>
          <a:xfrm>
            <a:off x="7401941" y="0"/>
            <a:ext cx="4790059" cy="6587067"/>
          </a:xfrm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097" y="-1282148"/>
            <a:ext cx="8080514" cy="8630527"/>
          </a:xfrm>
        </p:spPr>
        <p:txBody>
          <a:bodyPr anchor="b"/>
          <a:lstStyle/>
          <a:p>
            <a:br>
              <a:rPr lang="en-US" sz="3200" dirty="0"/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rice leaf diseases: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Leaf Smut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Brown Spot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Bacterial Leaf Blight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detection 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Manual identification 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Time-consuming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Error-prone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Requires expert knowledge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Farmers lack fast, reliable </a:t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 to identify diseases.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Picture Placeholder 3" descr="A person holding a plant">
            <a:extLst>
              <a:ext uri="{FF2B5EF4-FFF2-40B4-BE49-F238E27FC236}">
                <a16:creationId xmlns:a16="http://schemas.microsoft.com/office/drawing/2014/main" id="{0DEBEDD0-2C97-CD36-23CF-99F0828068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24497" r="24497"/>
          <a:stretch/>
        </p:blipFill>
        <p:spPr>
          <a:xfrm>
            <a:off x="99391" y="0"/>
            <a:ext cx="5046134" cy="6596220"/>
          </a:xfr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755648"/>
            <a:ext cx="7534656" cy="914400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B7AC3A-4F61-E95B-6B0E-86085F21E3D4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914400" y="2038350"/>
            <a:ext cx="7150100" cy="335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classification of rice leaf diseases using image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deep learning (CNN/Transfer Learning).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farmers with early detection and prevention.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crop loss and improve food security.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061" y="-1530625"/>
            <a:ext cx="10360152" cy="2843784"/>
          </a:xfrm>
        </p:spPr>
        <p:txBody>
          <a:bodyPr anchor="b"/>
          <a:lstStyle/>
          <a:p>
            <a:r>
              <a:rPr lang="en-US" dirty="0"/>
              <a:t>Dataset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7948" y="1450423"/>
            <a:ext cx="8109772" cy="4781412"/>
          </a:xfrm>
        </p:spPr>
        <p:txBody>
          <a:bodyPr/>
          <a:lstStyle/>
          <a:p>
            <a:r>
              <a:rPr lang="en-IN" dirty="0"/>
              <a:t>Dataset contains </a:t>
            </a:r>
            <a:r>
              <a:rPr lang="en-IN" b="1" dirty="0"/>
              <a:t>3 classes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Leaf Smut</a:t>
            </a:r>
          </a:p>
          <a:p>
            <a:pPr lvl="1"/>
            <a:r>
              <a:rPr lang="en-IN" dirty="0"/>
              <a:t>Brown Spot</a:t>
            </a:r>
          </a:p>
          <a:p>
            <a:pPr lvl="1"/>
            <a:r>
              <a:rPr lang="en-IN" dirty="0"/>
              <a:t>Bacterial Leaf Blight</a:t>
            </a:r>
          </a:p>
          <a:p>
            <a:pPr lvl="1"/>
            <a:r>
              <a:rPr lang="en-IN" dirty="0"/>
              <a:t>Each class includes </a:t>
            </a:r>
            <a:r>
              <a:rPr lang="en-IN" dirty="0" err="1"/>
              <a:t>labeled</a:t>
            </a:r>
            <a:r>
              <a:rPr lang="en-IN" dirty="0"/>
              <a:t> leaf images.</a:t>
            </a:r>
          </a:p>
          <a:p>
            <a:r>
              <a:rPr lang="en-IN" dirty="0"/>
              <a:t>Preprocessing applied:</a:t>
            </a:r>
          </a:p>
          <a:p>
            <a:pPr lvl="1"/>
            <a:r>
              <a:rPr lang="en-IN" dirty="0"/>
              <a:t>Resizing images</a:t>
            </a:r>
          </a:p>
          <a:p>
            <a:pPr lvl="1"/>
            <a:r>
              <a:rPr lang="en-IN" dirty="0"/>
              <a:t>Normalization</a:t>
            </a:r>
          </a:p>
          <a:p>
            <a:pPr lvl="1"/>
            <a:r>
              <a:rPr lang="en-IN" dirty="0"/>
              <a:t>Data Augmentation (rotation, flip, zoom)</a:t>
            </a:r>
          </a:p>
          <a:p>
            <a:pPr lvl="1"/>
            <a:r>
              <a:rPr lang="en-IN" dirty="0"/>
              <a:t>Data split into Training ,Validation , and Test sets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 (Workflow)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444310-6861-0D98-4DB0-8E3E2BB76631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3895344" y="2038350"/>
            <a:ext cx="6655308" cy="29908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0AA6B49-63AF-2929-4758-1353D5B6086F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914400" y="1594643"/>
            <a:ext cx="4576763" cy="387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Building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&amp;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&amp; Results</a:t>
            </a: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45" y="1305448"/>
            <a:ext cx="10360152" cy="914400"/>
          </a:xfrm>
        </p:spPr>
        <p:txBody>
          <a:bodyPr/>
          <a:lstStyle/>
          <a:p>
            <a:r>
              <a:rPr lang="en-US" dirty="0"/>
              <a:t>Model Architecture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077FAB8-C86E-C4CD-3090-B494E4354EEB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8150897" y="1762648"/>
            <a:ext cx="2603500" cy="390525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B75AF4-D4A3-B51B-1E84-E810CB50C68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380597" y="2551837"/>
            <a:ext cx="794299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model design: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Convolutional Layers → Pooling Layers → Flatten → Dense → Output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Optimizer: Adam / SGD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 Function: Categorical Cross-Entropy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Activation Functions: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298" y="914401"/>
            <a:ext cx="7534656" cy="91440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28297" y="2393953"/>
            <a:ext cx="8993875" cy="3904488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Accuracy achieved: </a:t>
            </a:r>
            <a:r>
              <a:rPr lang="en-US" b="1" dirty="0"/>
              <a:t>(</a:t>
            </a:r>
            <a:r>
              <a:rPr lang="en-US" altLang="en-US" sz="1600" b="1" dirty="0">
                <a:latin typeface="Arial" panose="020B0604020202020204" pitchFamily="34" charset="0"/>
              </a:rPr>
              <a:t>Best Accuracy Achieved: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b="1" dirty="0">
                <a:latin typeface="Arial" panose="020B0604020202020204" pitchFamily="34" charset="0"/>
              </a:rPr>
              <a:t>66.7%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Top Performing Models: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CNN-2 (Medium + Dropout) → 66.7%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MobileNetV2 (Frozen) → 66.7%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Other models: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CNN-1 (Shallow) → 61.1%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CNN-0 (Very Simple) → 38.9%</a:t>
            </a:r>
            <a:endParaRPr lang="en-US" dirty="0"/>
          </a:p>
          <a:p>
            <a:r>
              <a:rPr lang="en-US" dirty="0"/>
              <a:t>Confusion Matrix shows classification performance.</a:t>
            </a:r>
          </a:p>
          <a:p>
            <a:r>
              <a:rPr lang="en-US" dirty="0"/>
              <a:t>Training vs Validation curves confirm proper learning.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speaking impact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6E98E5E-85E3-A839-E6FF-5A8A5B14AE6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4400" y="2172920"/>
            <a:ext cx="658866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farmers to detect diseases early.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crop losses and improves yield.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deployed as a mobile or web-based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to detect more diseases and other crops.</a:t>
            </a:r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Built a deep learning model for rice leaf disease detection.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Achieved promising accuracy.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Demonstrated feasibility of </a:t>
            </a:r>
            <a:r>
              <a:rPr lang="en-US" altLang="en-US" b="1" cap="none" dirty="0">
                <a:latin typeface="Arial" panose="020B0604020202020204" pitchFamily="34" charset="0"/>
              </a:rPr>
              <a:t>AI in agriculture</a:t>
            </a:r>
            <a:r>
              <a:rPr lang="en-US" altLang="en-US" cap="none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cap="none" dirty="0">
                <a:latin typeface="Arial" panose="020B0604020202020204" pitchFamily="34" charset="0"/>
              </a:rPr>
              <a:t>Future Scope:</a:t>
            </a:r>
            <a:endParaRPr lang="en-US" altLang="en-US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Expand dataset with more diseases.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cap="none" dirty="0">
                <a:latin typeface="Arial" panose="020B0604020202020204" pitchFamily="34" charset="0"/>
              </a:rPr>
              <a:t>Deploy system as a real-time app for farmers.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9784080" cy="5029200"/>
          </a:xfrm>
        </p:spPr>
        <p:txBody>
          <a:bodyPr/>
          <a:lstStyle/>
          <a:p>
            <a:r>
              <a:rPr lang="en-US" dirty="0"/>
              <a:t>    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{092FA8BD-6538-4101-AB1F-810D804722D4}tf11964407_win32</Template>
  <TotalTime>61</TotalTime>
  <Words>409</Words>
  <Application>Microsoft Office PowerPoint</Application>
  <PresentationFormat>Widescreen</PresentationFormat>
  <Paragraphs>81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Gill Sans Nova Light</vt:lpstr>
      <vt:lpstr>Sagona Book</vt:lpstr>
      <vt:lpstr>Custom</vt:lpstr>
      <vt:lpstr>Rice Leaf Disease Detection using CNN</vt:lpstr>
      <vt:lpstr>agenda</vt:lpstr>
      <vt:lpstr>Problem statement</vt:lpstr>
      <vt:lpstr> Major rice leaf diseases:   Leaf Smut   Brown Spot   Bacterial Leaf Blight Current detection     Manual identification     Time-consuming    Error-prone    Requires expert knowledge Farmers lack fast, reliable  methods to identify diseases.   </vt:lpstr>
      <vt:lpstr>Objective</vt:lpstr>
      <vt:lpstr>Dataset</vt:lpstr>
      <vt:lpstr>Methodology (Workflow)</vt:lpstr>
      <vt:lpstr>Model Architecture</vt:lpstr>
      <vt:lpstr>Results</vt:lpstr>
      <vt:lpstr>speaking impact </vt:lpstr>
      <vt:lpstr>Conclusion</vt:lpstr>
      <vt:lpstr>    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Ranjini Prakash</dc:creator>
  <cp:lastModifiedBy>Ranjini Prakash</cp:lastModifiedBy>
  <cp:revision>1</cp:revision>
  <dcterms:created xsi:type="dcterms:W3CDTF">2025-09-18T06:38:12Z</dcterms:created>
  <dcterms:modified xsi:type="dcterms:W3CDTF">2025-09-18T07:39:48Z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